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0669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29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6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0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1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6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8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1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01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34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16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07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51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9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90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39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69" y="1385770"/>
            <a:ext cx="6947127" cy="2662357"/>
          </a:xfrm>
        </p:spPr>
        <p:txBody>
          <a:bodyPr/>
          <a:lstStyle/>
          <a:p>
            <a:pPr algn="ctr"/>
            <a:r>
              <a:t>customer </a:t>
            </a:r>
            <a:r>
              <a:rPr dirty="0"/>
              <a:t>Analytics &amp; RFM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7645" y="4080933"/>
            <a:ext cx="5691173" cy="1391297"/>
          </a:xfrm>
        </p:spPr>
        <p:txBody>
          <a:bodyPr>
            <a:normAutofit/>
          </a:bodyPr>
          <a:lstStyle/>
          <a:p>
            <a:pPr algn="ctr"/>
            <a:endParaRPr lang="en-IN" sz="2400" dirty="0"/>
          </a:p>
          <a:p>
            <a:pPr algn="ctr"/>
            <a:r>
              <a:rPr lang="en-IN" sz="2400" dirty="0"/>
              <a:t>Business Insights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1" y="93725"/>
            <a:ext cx="7704667" cy="1981200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1" y="1762592"/>
            <a:ext cx="7704667" cy="3332816"/>
          </a:xfrm>
        </p:spPr>
        <p:txBody>
          <a:bodyPr/>
          <a:lstStyle/>
          <a:p>
            <a:r>
              <a:rPr dirty="0"/>
              <a:t>Analyze customer transactions and behavior</a:t>
            </a:r>
          </a:p>
          <a:p>
            <a:endParaRPr lang="en-US" dirty="0"/>
          </a:p>
          <a:p>
            <a:r>
              <a:rPr dirty="0"/>
              <a:t>Perform RFM segmentation</a:t>
            </a:r>
          </a:p>
          <a:p>
            <a:endParaRPr lang="en-US" dirty="0"/>
          </a:p>
          <a:p>
            <a:r>
              <a:rPr dirty="0"/>
              <a:t>Generate actionable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34414"/>
            <a:ext cx="7704667" cy="1981200"/>
          </a:xfrm>
        </p:spPr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1" y="1762592"/>
            <a:ext cx="7704667" cy="3332816"/>
          </a:xfrm>
        </p:spPr>
        <p:txBody>
          <a:bodyPr/>
          <a:lstStyle/>
          <a:p>
            <a:r>
              <a:rPr dirty="0"/>
              <a:t>23,050 transactions</a:t>
            </a:r>
          </a:p>
          <a:p>
            <a:endParaRPr lang="en-US" dirty="0"/>
          </a:p>
          <a:p>
            <a:r>
              <a:rPr dirty="0"/>
              <a:t>Customer</a:t>
            </a:r>
            <a:r>
              <a:rPr lang="en-US" dirty="0"/>
              <a:t> </a:t>
            </a:r>
            <a:r>
              <a:rPr dirty="0"/>
              <a:t>ID, Transaction</a:t>
            </a:r>
            <a:r>
              <a:rPr lang="en-US" dirty="0"/>
              <a:t> </a:t>
            </a:r>
            <a:r>
              <a:rPr dirty="0"/>
              <a:t>Date, Transaction</a:t>
            </a:r>
            <a:r>
              <a:rPr lang="en-US" dirty="0"/>
              <a:t> </a:t>
            </a:r>
            <a:r>
              <a:rPr dirty="0"/>
              <a:t>Amount</a:t>
            </a:r>
          </a:p>
          <a:p>
            <a:endParaRPr lang="en-US" dirty="0"/>
          </a:p>
          <a:p>
            <a:r>
              <a:rPr dirty="0"/>
              <a:t>Derived Month column for time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0"/>
            <a:ext cx="7704667" cy="1981200"/>
          </a:xfrm>
        </p:spPr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1" y="1546443"/>
            <a:ext cx="7704667" cy="3332816"/>
          </a:xfrm>
        </p:spPr>
        <p:txBody>
          <a:bodyPr/>
          <a:lstStyle/>
          <a:p>
            <a:r>
              <a:rPr dirty="0"/>
              <a:t>Checked for missing values</a:t>
            </a:r>
          </a:p>
          <a:p>
            <a:endParaRPr lang="en-US" dirty="0"/>
          </a:p>
          <a:p>
            <a:r>
              <a:rPr dirty="0"/>
              <a:t>Validated Customer</a:t>
            </a:r>
            <a:r>
              <a:rPr lang="en-US" dirty="0"/>
              <a:t> </a:t>
            </a:r>
            <a:r>
              <a:rPr dirty="0"/>
              <a:t>ID uniqueness</a:t>
            </a:r>
          </a:p>
          <a:p>
            <a:endParaRPr lang="en-US" dirty="0"/>
          </a:p>
          <a:p>
            <a:r>
              <a:rPr dirty="0"/>
              <a:t>Ensured correct data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378" y="-88489"/>
            <a:ext cx="6199239" cy="717753"/>
          </a:xfrm>
        </p:spPr>
        <p:txBody>
          <a:bodyPr/>
          <a:lstStyle/>
          <a:p>
            <a:r>
              <a:rPr dirty="0"/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9441" y="5132438"/>
            <a:ext cx="6510049" cy="1981200"/>
          </a:xfrm>
        </p:spPr>
        <p:txBody>
          <a:bodyPr>
            <a:normAutofit/>
          </a:bodyPr>
          <a:lstStyle/>
          <a:p>
            <a:r>
              <a:rPr sz="1800" dirty="0"/>
              <a:t>Age and transaction distributions analyzed</a:t>
            </a:r>
          </a:p>
          <a:p>
            <a:r>
              <a:rPr sz="1800" dirty="0"/>
              <a:t>Gender distribution is balanced</a:t>
            </a:r>
          </a:p>
          <a:p>
            <a:r>
              <a:rPr sz="1800" dirty="0"/>
              <a:t>Customer demographics are diverse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2B6E7-7055-8630-4519-59F3207D4C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4942" y="629264"/>
            <a:ext cx="5476797" cy="2413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3AFAFE-97C5-3B38-8966-B39982808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043" y="3042601"/>
            <a:ext cx="3105907" cy="2413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24E38-B97B-A367-A21F-999F38EC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9A31F-28FC-7B72-2D04-492EB14D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380" y="-88489"/>
            <a:ext cx="6199239" cy="717753"/>
          </a:xfrm>
        </p:spPr>
        <p:txBody>
          <a:bodyPr/>
          <a:lstStyle/>
          <a:p>
            <a:r>
              <a:rPr lang="en-US" dirty="0"/>
              <a:t>B</a:t>
            </a:r>
            <a:r>
              <a:rPr dirty="0"/>
              <a:t>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54471-9058-D462-7F47-CD2AE5ED1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41" y="4994786"/>
            <a:ext cx="6510049" cy="1981200"/>
          </a:xfrm>
        </p:spPr>
        <p:txBody>
          <a:bodyPr>
            <a:normAutofit/>
          </a:bodyPr>
          <a:lstStyle/>
          <a:p>
            <a:r>
              <a:rPr lang="en-US" sz="1800" dirty="0"/>
              <a:t>Transaction trends over time analyzed</a:t>
            </a:r>
          </a:p>
          <a:p>
            <a:r>
              <a:rPr lang="en-US" sz="1800" dirty="0"/>
              <a:t>Customer spending varies across timeline</a:t>
            </a:r>
          </a:p>
          <a:p>
            <a:r>
              <a:rPr lang="en-US" sz="1800" dirty="0"/>
              <a:t>Scatter plots show distribution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7C133-74FF-00F7-3EAC-444CDB5D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45" y="677748"/>
            <a:ext cx="5304145" cy="2185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C6098D-FE68-033F-11EC-83BEDDB61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445" y="2912129"/>
            <a:ext cx="5304145" cy="217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7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266E6-86AB-5BEC-B884-E70E6911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7D7E-F4F9-2C1D-B5D6-E70620CD3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378" y="-108154"/>
            <a:ext cx="6199239" cy="717753"/>
          </a:xfrm>
        </p:spPr>
        <p:txBody>
          <a:bodyPr>
            <a:normAutofit fontScale="90000"/>
          </a:bodyPr>
          <a:lstStyle/>
          <a:p>
            <a:r>
              <a:rPr lang="en-US" dirty="0"/>
              <a:t>Multivariate</a:t>
            </a:r>
            <a:r>
              <a:rPr dirty="0"/>
              <a:t>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3C63F-3804-168B-938C-7FF223188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41" y="5616679"/>
            <a:ext cx="6510049" cy="1263444"/>
          </a:xfrm>
        </p:spPr>
        <p:txBody>
          <a:bodyPr>
            <a:normAutofit/>
          </a:bodyPr>
          <a:lstStyle/>
          <a:p>
            <a:r>
              <a:rPr lang="en-US" sz="1800" dirty="0"/>
              <a:t>Combined time and transaction amount</a:t>
            </a:r>
          </a:p>
          <a:p>
            <a:r>
              <a:rPr lang="en-US" sz="1800" dirty="0"/>
              <a:t>Density plots highlight high activity zones</a:t>
            </a:r>
          </a:p>
          <a:p>
            <a:r>
              <a:rPr lang="en-US" sz="1800" dirty="0"/>
              <a:t>Customer behavior varies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019CB-6423-2B83-34BF-115F1F97E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491" y="609599"/>
            <a:ext cx="5481011" cy="22587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2C7ECC-F9A9-F069-2FD0-DBAE32B96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808" y="2868384"/>
            <a:ext cx="3376376" cy="261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6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484557"/>
            <a:ext cx="4114800" cy="747253"/>
          </a:xfrm>
        </p:spPr>
        <p:txBody>
          <a:bodyPr/>
          <a:lstStyle/>
          <a:p>
            <a:r>
              <a:rPr dirty="0"/>
              <a:t>RFM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/>
          <a:lstStyle/>
          <a:p>
            <a:r>
              <a:rPr dirty="0"/>
              <a:t>Recency, Frequency, Monetary calculated</a:t>
            </a:r>
          </a:p>
          <a:p>
            <a:endParaRPr lang="en-US" dirty="0"/>
          </a:p>
          <a:p>
            <a:r>
              <a:rPr dirty="0"/>
              <a:t>Customers grouped based on behavior</a:t>
            </a:r>
          </a:p>
          <a:p>
            <a:endParaRPr lang="en-US" dirty="0"/>
          </a:p>
          <a:p>
            <a:r>
              <a:rPr dirty="0"/>
              <a:t>Helps identify high-value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294" y="96186"/>
            <a:ext cx="6071419" cy="781664"/>
          </a:xfrm>
        </p:spPr>
        <p:txBody>
          <a:bodyPr/>
          <a:lstStyle/>
          <a:p>
            <a:r>
              <a:rPr dirty="0"/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0286" y="5113724"/>
            <a:ext cx="5431506" cy="1821106"/>
          </a:xfrm>
        </p:spPr>
        <p:txBody>
          <a:bodyPr>
            <a:normAutofit/>
          </a:bodyPr>
          <a:lstStyle/>
          <a:p>
            <a:r>
              <a:rPr sz="1800" dirty="0"/>
              <a:t>Potential Loyalists are highest</a:t>
            </a:r>
          </a:p>
          <a:p>
            <a:r>
              <a:rPr sz="1800" dirty="0"/>
              <a:t>At Risk and Lost customers present</a:t>
            </a:r>
          </a:p>
          <a:p>
            <a:r>
              <a:rPr sz="1800" dirty="0"/>
              <a:t>Champions are few but valuable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E1164-6B94-3C83-02DD-AD5C74D5B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287" y="877850"/>
            <a:ext cx="6893505" cy="42358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6348" y="14749"/>
            <a:ext cx="7005484" cy="732502"/>
          </a:xfrm>
        </p:spPr>
        <p:txBody>
          <a:bodyPr/>
          <a:lstStyle/>
          <a:p>
            <a:r>
              <a:rPr dirty="0"/>
              <a:t>Revenue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5015" y="5043948"/>
            <a:ext cx="5693970" cy="1580535"/>
          </a:xfrm>
        </p:spPr>
        <p:txBody>
          <a:bodyPr>
            <a:normAutofit/>
          </a:bodyPr>
          <a:lstStyle/>
          <a:p>
            <a:r>
              <a:rPr sz="1800" dirty="0"/>
              <a:t>Revenue spread across segments</a:t>
            </a:r>
          </a:p>
          <a:p>
            <a:r>
              <a:rPr sz="1800" dirty="0"/>
              <a:t>High-value segments contribute more</a:t>
            </a:r>
          </a:p>
          <a:p>
            <a:r>
              <a:rPr sz="1800" dirty="0"/>
              <a:t>Opportunity in mid-tier customers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22756-6526-2E0D-84A6-2F5592721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64" y="939974"/>
            <a:ext cx="7757652" cy="40095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413" y="38974"/>
            <a:ext cx="5265174" cy="754307"/>
          </a:xfrm>
        </p:spPr>
        <p:txBody>
          <a:bodyPr/>
          <a:lstStyle/>
          <a:p>
            <a:r>
              <a:rPr dirty="0"/>
              <a:t>Pareto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477" y="5314258"/>
            <a:ext cx="5788782" cy="1705973"/>
          </a:xfrm>
        </p:spPr>
        <p:txBody>
          <a:bodyPr>
            <a:normAutofit/>
          </a:bodyPr>
          <a:lstStyle/>
          <a:p>
            <a:r>
              <a:rPr lang="en-US" sz="1800" dirty="0"/>
              <a:t>72</a:t>
            </a:r>
            <a:r>
              <a:rPr sz="1800" dirty="0"/>
              <a:t>% customers generate 80% revenue</a:t>
            </a:r>
          </a:p>
          <a:p>
            <a:r>
              <a:rPr sz="1800" dirty="0"/>
              <a:t>Revenue distribution is balanced</a:t>
            </a:r>
          </a:p>
          <a:p>
            <a:r>
              <a:rPr sz="1800" dirty="0"/>
              <a:t>Not strictly 80/20 rule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67A18E-DFEE-EF35-966F-376F63833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87" y="793281"/>
            <a:ext cx="7568489" cy="45150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42569"/>
            <a:ext cx="4114800" cy="1007805"/>
          </a:xfrm>
        </p:spPr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/>
          <a:lstStyle/>
          <a:p>
            <a:r>
              <a:rPr dirty="0"/>
              <a:t>Customer base is diverse</a:t>
            </a:r>
          </a:p>
          <a:p>
            <a:endParaRPr lang="en-US" dirty="0"/>
          </a:p>
          <a:p>
            <a:r>
              <a:rPr dirty="0"/>
              <a:t>Growth potential in loyal segments</a:t>
            </a:r>
          </a:p>
          <a:p>
            <a:endParaRPr lang="en-US" dirty="0"/>
          </a:p>
          <a:p>
            <a:r>
              <a:rPr dirty="0"/>
              <a:t>Balanced revenue 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019" y="68075"/>
            <a:ext cx="5687961" cy="1387099"/>
          </a:xfrm>
        </p:spPr>
        <p:txBody>
          <a:bodyPr/>
          <a:lstStyle/>
          <a:p>
            <a:r>
              <a:rPr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666" y="2086897"/>
            <a:ext cx="7704667" cy="3332816"/>
          </a:xfrm>
        </p:spPr>
        <p:txBody>
          <a:bodyPr>
            <a:normAutofit lnSpcReduction="10000"/>
          </a:bodyPr>
          <a:lstStyle/>
          <a:p>
            <a:r>
              <a:rPr dirty="0"/>
              <a:t>Retain high-value customers</a:t>
            </a:r>
          </a:p>
          <a:p>
            <a:endParaRPr lang="en-US" dirty="0"/>
          </a:p>
          <a:p>
            <a:r>
              <a:rPr dirty="0"/>
              <a:t>Convert potential loyalists</a:t>
            </a:r>
          </a:p>
          <a:p>
            <a:endParaRPr lang="en-US" dirty="0"/>
          </a:p>
          <a:p>
            <a:r>
              <a:rPr dirty="0"/>
              <a:t>Re-engage at-risk customers</a:t>
            </a:r>
          </a:p>
          <a:p>
            <a:endParaRPr lang="en-US" dirty="0"/>
          </a:p>
          <a:p>
            <a:r>
              <a:rPr dirty="0"/>
              <a:t>Use targeted marketing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12492"/>
            <a:ext cx="4114800" cy="762003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59078"/>
            <a:ext cx="7704667" cy="3332816"/>
          </a:xfrm>
        </p:spPr>
        <p:txBody>
          <a:bodyPr>
            <a:normAutofit lnSpcReduction="10000"/>
          </a:bodyPr>
          <a:lstStyle/>
          <a:p>
            <a:r>
              <a:rPr dirty="0"/>
              <a:t>Strong customer base with growth opportunities</a:t>
            </a:r>
          </a:p>
          <a:p>
            <a:endParaRPr lang="en-US" dirty="0"/>
          </a:p>
          <a:p>
            <a:r>
              <a:rPr dirty="0"/>
              <a:t>Balanced revenue reduces dependency risk</a:t>
            </a:r>
          </a:p>
          <a:p>
            <a:endParaRPr lang="en-US" dirty="0"/>
          </a:p>
          <a:p>
            <a:r>
              <a:rPr dirty="0"/>
              <a:t>Strategic segmentation can boost profitability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2">
      <a:majorFont>
        <a:latin typeface="Rodfat Two Demo"/>
        <a:ea typeface=""/>
        <a:cs typeface=""/>
      </a:majorFont>
      <a:minorFont>
        <a:latin typeface="LEMON MILK"/>
        <a:ea typeface=""/>
        <a:cs typeface="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74</TotalTime>
  <Words>216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LEMON MILK</vt:lpstr>
      <vt:lpstr>Rodfat Two Demo</vt:lpstr>
      <vt:lpstr>Parallax</vt:lpstr>
      <vt:lpstr>customer Analytics &amp; RFM Analysis</vt:lpstr>
      <vt:lpstr>Project Overview</vt:lpstr>
      <vt:lpstr>Dataset Overview</vt:lpstr>
      <vt:lpstr>Data Cleaning</vt:lpstr>
      <vt:lpstr>Univariate Analysis</vt:lpstr>
      <vt:lpstr>Bivariate Analysis</vt:lpstr>
      <vt:lpstr>Multivariate Analysis</vt:lpstr>
      <vt:lpstr>RFM Analysis</vt:lpstr>
      <vt:lpstr>Customer Segments</vt:lpstr>
      <vt:lpstr>Revenue Contribution</vt:lpstr>
      <vt:lpstr>Pareto Analysis</vt:lpstr>
      <vt:lpstr>Key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RONEET DHIMAN</cp:lastModifiedBy>
  <cp:revision>12</cp:revision>
  <dcterms:created xsi:type="dcterms:W3CDTF">2013-01-27T09:14:16Z</dcterms:created>
  <dcterms:modified xsi:type="dcterms:W3CDTF">2026-04-30T19:57:07Z</dcterms:modified>
  <cp:category/>
</cp:coreProperties>
</file>